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尊敬的各位评委老师，大家好。我是来自XX班的XX，今天我将向大家汇报我的毕业设计项目——音乐歌单个性化整理系统。这个系统旨在通过AI技术，帮助用户更高效地管理和发现音乐，解决传统音乐收藏杂乱、推荐不精准的痛点。接下来，我将从项目背景、系统设计、功能实现等几个方面进行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答辩将围绕六个核心部分展开。首先，我会介绍项目的背景和开发目的。其次，阐述系统的需求分析和总体设计。接着，也是本次汇报的重点，我将通过实机截图详细展示系统的各项功能。之后，会介绍项目的技术架构和实现细节。最后，展示系统的测试结果，并对整个项目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请允许我介绍一下项目的背景。随着数字音乐的普及，很多用户积累了大量的本地音乐，但普遍面临着管理混乱、难以筛选的问题。同时，现有平台的推荐算法往往不够精准。因此，我们开发了这套系统，旨在通过AI技术，帮助用户自动整理音乐库，并提供真正个性化的推荐，从而提升用户的音乐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需求分析阶段，我们明确了四大核心功能模块：用户认证、歌单管理、音乐资源管理以及最核心的AI个性化推荐模块。同时，我们对系统的性能、兼容性和安全性也提出了明确要求。在设计上，我们遵循模块化、易用性、可扩展性和数据安全四大原则，以确保系统的高质量和长远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大家最关心的系统界面展示部分。首先是首页，大家可以看到，界面非常简洁。顶部是导航栏，中间是数据看板，清晰地展示了用户的核心数据。下方是推荐歌单和AI智能生成歌单区域，这是用户发现音乐的主要入口。整个首页的设计旨在让用户快速了解自己的音乐状态并发现新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歌单管理页面。在这里，用户可以清晰地看到自己所有的歌单。我们提供了分类标签，方便用户快速筛选。右上角的“新建歌单”按钮可以让用户随时创建新的歌单。歌单以卡片形式展示，信息一目了然，用户可以方便地进行编辑和删除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音乐库是系统的另一个核心页面。顶部是强大的AI智能分析工具，用户可以一键分析自己的音乐库，进行智能聚类生成歌单，或获取个性化推荐。下方是传统的音乐管理功能，包括上传、搜索和筛选。这个页面将传统的音乐管理与AI智能分析完美结合，极大地提升了用户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个人中心页面为用户提供了一个自我审视的窗口。除了基本的信息管理，最具特色的是音乐偏好分析功能。系统会自动分析用户的听歌数据，并以可视化图表的形式展示出来。用户可以清晰地看到自己更喜欢哪种风格、哪种情绪的音乐，这不仅有趣，也为AI的精准推荐提供了数据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最后是登录页面。这是用户访问系统的第一道门。我们设计了简洁的登录表单，并提供了注册入口。系统实现了严格的权限控制，任何未登录的访问都会被引导至此，有效保障了用户数据的安全。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介绍一下项目的技术实现。我们采用了当前流行的前后端分离架构。前端使用React和Vite构建，保证了页面的高性能和良好的开发体验。后端基于Node.js和Express.js，提供了稳定的API服务。数据库选用MongoDB，其灵活的文档结构非常适合存储歌单和音乐这类非结构化数据。整个系统遵循经典的三层架构设计，逻辑清晰，易于维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确保系统质量，我们进行了全面的测试。测试覆盖了所有核心功能模块。结果显示，所有功能测试用例均通过，系统性能表现良好，安全性得到保障。开发过程中发现的一些小问题也都已修复。最终结论是，本系统达到了预期的设计目标，可以投入使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对我的项目进行总结。本系统成功实现了预设的所有核心功能，特别是AI个性化推荐功能，达到了预期的效果。当然，项目还有很多可以完善的地方。未来，我计划增加社交功能，优化推荐算法，并开发移动端版本，让系统更加完善。在此，我要衷心感谢我的指导老师，以及在开发过程中帮助过我的同学们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notesSlides/notesSlide3.xml" Type="http://schemas.openxmlformats.org/officeDocument/2006/relationships/notesSlid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5.svg" Type="http://schemas.openxmlformats.org/officeDocument/2006/relationships/image"/><Relationship Id="rId11" Target="../notesSlides/notesSlide5.xml" Type="http://schemas.openxmlformats.org/officeDocument/2006/relationships/notesSlide"/><Relationship Id="rId2" Target="../media/image1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6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2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54.png" Type="http://schemas.openxmlformats.org/officeDocument/2006/relationships/image"/><Relationship Id="rId15" Target="../media/image55.svg" Type="http://schemas.openxmlformats.org/officeDocument/2006/relationships/image"/><Relationship Id="rId16" Target="../notesSlides/notesSlide11.xml" Type="http://schemas.openxmlformats.org/officeDocument/2006/relationships/notesSlid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Relationship Id="rId6" Target="../media/image48.png" Type="http://schemas.openxmlformats.org/officeDocument/2006/relationships/image"/><Relationship Id="rId7" Target="../media/image49.svg" Type="http://schemas.openxmlformats.org/officeDocument/2006/relationships/image"/><Relationship Id="rId8" Target="../media/image50.png" Type="http://schemas.openxmlformats.org/officeDocument/2006/relationships/image"/><Relationship Id="rId9" Target="../media/image5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11" Target="../media/image64.png" Type="http://schemas.openxmlformats.org/officeDocument/2006/relationships/image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0.png" Type="http://schemas.openxmlformats.org/officeDocument/2006/relationships/image"/><Relationship Id="rId7" Target="../media/image61.sv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-1544" t="0" r="-1544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2794000"/>
            <a:ext cx="1143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音乐歌单个性化整理系统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334000" y="4191000"/>
            <a:ext cx="1524000" cy="508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4572000"/>
            <a:ext cx="1143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答辩汇报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" y="5588000"/>
            <a:ext cx="1143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汇报人：XXX   |   班级：XXXX级计算机科学与技术X班   |   指导教师：XXX 教授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635B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32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50892" flipH="false" flipV="false">
            <a:off x="1397000" y="2533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2032000" y="2032000"/>
            <a:ext cx="3746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项目概述与开发背景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深入剖析项目的开发初衷，阐述解决的实际问题与核心应用价值，明确项目诞生的现实意义。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429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42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556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50892" flipH="false" flipV="false">
            <a:off x="1397000" y="4057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2032000" y="3556000"/>
            <a:ext cx="3746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系统需求与概要设计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梳理业务流程与用户核心诉求，明确系统功能边界，确立整体架构设计原则与核心模块划分。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953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5080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5350892" flipH="false" flipV="false">
            <a:off x="13970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2032000" y="5080000"/>
            <a:ext cx="3746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系统界面功能展示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结合实机演示与界面截图，逐一呈现核心功能模块的交互逻辑与操作流程，直观展示系统的易用性。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1905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1905000"/>
            <a:ext cx="762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04000" y="2032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5350892" flipH="false" flipV="false">
            <a:off x="6985000" y="2533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7620000" y="2032000"/>
            <a:ext cx="3746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技术架构与实现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详细介绍前后端技术栈选型、数据库表结构设计及核心业务逻辑的实现方式，解析系统底层支撑。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50000" y="3429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350000" y="3429000"/>
            <a:ext cx="762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04000" y="3556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5350892" flipH="false" flipV="false">
            <a:off x="6985000" y="4057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7620000" y="3556000"/>
            <a:ext cx="3746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系统测试与结果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展示功能测试、性能测试的执行方案与关键指标数据，验证系统的稳定性、准确性与响应效率。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350000" y="4953000"/>
            <a:ext cx="52070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350000" y="4953000"/>
            <a:ext cx="76200" cy="1333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604000" y="5080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5350892" flipH="false" flipV="false">
            <a:off x="6985000" y="5581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7620000" y="5080000"/>
            <a:ext cx="3746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总结与未来展望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回顾项目开发全过程的收获与不足，梳理系统的优化方向，规划功能迭代与技术升级的未来路径。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项目概述与开发背景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635B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905000"/>
            <a:ext cx="1003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项目核心简介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本系统是面向音乐爱好者打造的前后端分离Web音乐管理平台，整合账号管理、歌单自定义、本地音乐上传、AI智能偏好分析及个性化推荐等全流程功能。以自动化整理为基础，智能化推荐为核心，致力于解决用户音乐收藏零散、筛选困难的问题，构建专属、高效的个人音乐管理体系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556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3746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3683000"/>
            <a:ext cx="4445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现有困境：管理繁琐与推荐同质化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本地音乐文件零散杂乱，手动整理歌单耗时耗力；主流平台算法趋同，推荐内容高度同质化，用户难以挖掘贴合个人深度审美的小众优质音乐。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080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5270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5207000"/>
            <a:ext cx="4445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开发目标：AI驱动的个性化体验升级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运用轻量化AI算法自动解析用户听歌行为与偏好特征，智能生成专属歌单，大幅降低音乐整理成本，同时打破推荐壁垒，提升优质音乐的发现效率与匹配精度。</a:t>
            </a:r>
          </a:p>
        </p:txBody>
      </p:sp>
      <p:cxnSp>
        <p:nvCxnSpPr>
          <p:cNvPr name="Connector 13" id="13"/>
          <p:cNvCxnSpPr/>
          <p:nvPr/>
        </p:nvCxnSpPr>
        <p:spPr>
          <a:xfrm rot="5384373" flipH="false" flipV="false">
            <a:off x="4889500" y="4946664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3556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604000" y="36830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985000" y="3657600"/>
            <a:ext cx="1968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模块化架构设计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采用解耦式模块化开发，各功能模块独立运行，确保系统后期维护便捷、迭代扩展灵活。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207500" y="3556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334500" y="3683000"/>
            <a:ext cx="279400" cy="279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715500" y="3657600"/>
            <a:ext cx="1968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极简直观交互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打造简洁、低门槛的Web操作界面，优化视觉层级与操作路径，让不同用户都能快速上手使用。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5080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5207000"/>
            <a:ext cx="279400" cy="279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85000" y="5181600"/>
            <a:ext cx="1968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精准智能推荐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基于用户听歌历史、曲风偏好等多维数据建模，实现内容的精准分发，挖掘潜在音乐喜好。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207500" y="5080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334500" y="5207000"/>
            <a:ext cx="279400" cy="279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715500" y="5181600"/>
            <a:ext cx="1968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全维安全保障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建立完善的账号权限体系与数据加密机制，严格保护用户隐私数据与音乐收藏信息的安全。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二、系统需求与概要设计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635B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429000" cy="4445000"/>
          </a:xfrm>
          <a:prstGeom prst="roundRect">
            <a:avLst>
              <a:gd name="adj" fmla="val 0"/>
            </a:avLst>
          </a:prstGeom>
          <a:solidFill>
            <a:srgbClr val="635B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159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133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01 功能性需求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9525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952500" y="30480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用户认证模块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实现用户注册、登录流程，完善多角色权限验证体系，保障访问安全。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40005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歌单与资源管理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支持歌单全生命周期管理，提供本地音乐上传、音乐库浏览及歌曲分类管理功能。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50800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AI个性化推荐核心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基于用户行为分析偏好，智能生成推荐歌单，实现千人千面的音乐推送体验。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08500" y="1905000"/>
            <a:ext cx="3429000" cy="4445000"/>
          </a:xfrm>
          <a:prstGeom prst="roundRect">
            <a:avLst>
              <a:gd name="adj" fmla="val 0"/>
            </a:avLst>
          </a:prstGeom>
          <a:solidFill>
            <a:srgbClr val="635B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085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159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143500" y="2133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02 非功能性需求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323" flipH="false" flipV="false">
            <a:off x="46990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699000" y="30480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高性能与并发支撑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页面平均响应时间控制在1.5秒内，系统架构支持至少200人同时并发访问，保障流畅体验。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99000" y="4127500"/>
            <a:ext cx="3048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全端兼容适配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深度适配Chrome、Firefox、Safari等主流现代浏览器，确保不同环境下的界面与功能一致性。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99000" y="5207000"/>
            <a:ext cx="304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多层级安全防护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采用密码加密存储，落实RBAC角色访问控制，严格防范非法越权操作。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0" y="1905000"/>
            <a:ext cx="3429000" cy="4445000"/>
          </a:xfrm>
          <a:prstGeom prst="roundRect">
            <a:avLst>
              <a:gd name="adj" fmla="val 0"/>
            </a:avLst>
          </a:prstGeom>
          <a:solidFill>
            <a:srgbClr val="635B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445500" y="2159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890000" y="2133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03 总体设计原则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4323" flipH="false" flipV="false">
            <a:off x="84455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445500" y="30480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模块化与低耦合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各功能模块独立封装，降低模块间依赖，提升系统维护效率与故障隔离能力。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445500" y="40005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易用性与直观化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界面设计遵循极简逻辑，操作流程清晰易懂，降低用户学习成本，提升交互体验。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445500" y="50800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可扩展与数据安全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架构预留标准接口便于功能迭代，全链路保障用户数据的存储与传输安全合规。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三、系统界面功能展示 - 首页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635B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5263" r="5263" t="0" b="0"/>
          <a:stretch>
            <a:fillRect/>
          </a:stretch>
        </p:blipFill>
        <p:spPr>
          <a:xfrm rot="0" flipH="false" flipV="false">
            <a:off x="762000" y="1905000"/>
            <a:ext cx="5207000" cy="3175000"/>
          </a:xfrm>
          <a:prstGeom prst="rect">
            <a:avLst/>
          </a:prstGeom>
          <a:noFill/>
          <a:ln w="12700" cmpd="sng" cap="flat">
            <a:solidFill>
              <a:srgbClr val="000000">
                <a:alpha val="5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461000"/>
            <a:ext cx="520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系统首页采用极简布局，以用户核心数据为视觉中心，搭配柔和的紫色主调，兼顾了视觉美感与操作的直观性，让用户第一眼即可掌控个人音乐资产全貌。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89889" flipH="false" flipV="false">
            <a:off x="4318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731000" y="1905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31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921500" y="2095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366000" y="2057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全域导航入口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21500" y="2667000"/>
            <a:ext cx="215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整合首页、歌单、音乐库与个人中心四大核心入口，结构清晰，用户可一键跳转至任意功能模块，操作路径极简。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334500" y="1905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345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635B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0" y="2095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969500" y="2057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核心数据看板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0" y="2667000"/>
            <a:ext cx="215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可视化呈现收藏歌曲、创建歌单、智能歌单及AI偏好匹配度，关键数据一目了然，实时反馈用户音乐资产动态。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31000" y="4191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635BFF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921500" y="4381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366000" y="4343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多维推荐歌单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921500" y="4953000"/>
            <a:ext cx="215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覆盖每日推荐、华语、欧美、日韩等主流分类，基于用户听歌历史进行个性化分发，拓宽用户的音乐发现边界。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334500" y="4191000"/>
            <a:ext cx="2476500" cy="19685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334500" y="4191000"/>
            <a:ext cx="50800" cy="1968500"/>
          </a:xfrm>
          <a:prstGeom prst="roundRect">
            <a:avLst>
              <a:gd name="adj" fmla="val 0"/>
            </a:avLst>
          </a:prstGeom>
          <a:solidFill>
            <a:srgbClr val="635B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0" y="43815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969500" y="43434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智能生成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525000" y="4953000"/>
            <a:ext cx="215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系统核心功能区，用户可一键触发，基于行为习惯与情感偏好，即时生成独一无二的专属歌单，打造极致个性化体验。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三、系统界面功能展示 - 歌单管理页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635B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9053" r="9053" t="0" b="0"/>
          <a:stretch>
            <a:fillRect/>
          </a:stretch>
        </p:blipFill>
        <p:spPr>
          <a:xfrm rot="0" flipH="false" flipV="false">
            <a:off x="762000" y="2032000"/>
            <a:ext cx="5334000" cy="3556000"/>
          </a:xfrm>
          <a:prstGeom prst="rect">
            <a:avLst/>
          </a:prstGeom>
          <a:noFill/>
          <a:ln w="12700" cmpd="sng" cap="flat">
            <a:solidFill>
              <a:srgbClr val="000000">
                <a:alpha val="8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635BFF">
                <a:alpha val="1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7785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歌单管理页以极简的布局呈现，通过清晰的视觉层级，将用户的核心操作路径与内容展示完美结合，让歌单的管理、查看与创建更加直观高效。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89889" flipH="false" flipV="false">
            <a:off x="4445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6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6858000" y="2032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858000" y="2032000"/>
            <a:ext cx="508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112000" y="21844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747000" y="2159000"/>
            <a:ext cx="368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多维度分类标签筛选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0" y="26670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支持“全部、我创建的、收藏的、智能生成”多维度切换，帮助用户快速定位目标歌单，减少查找成本。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858000" y="3429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58000" y="3429000"/>
            <a:ext cx="508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112000" y="35814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747000" y="3556000"/>
            <a:ext cx="368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一键触达的新建入口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112000" y="40640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界面右上角设置醒目且不干扰的“新建歌单”按钮，让用户能随时发起创建操作，流程简洁，即时响应需求。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858000" y="4953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58000" y="4953000"/>
            <a:ext cx="508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112000" y="51054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747000" y="5080000"/>
            <a:ext cx="3683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信息直观的卡片式布局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112000" y="55880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以封面、名称、歌曲数量和简介组成卡片单元，视觉层次清晰，用户可快速识别歌单内容，便捷进行编辑与管理。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三、系统界面功能展示 - 音乐库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9537" r="9537" t="0" b="0"/>
          <a:stretch>
            <a:fillRect/>
          </a:stretch>
        </p:blipFill>
        <p:spPr>
          <a:xfrm rot="0" flipH="false" flipV="false">
            <a:off x="762000" y="1778000"/>
            <a:ext cx="5080000" cy="3302000"/>
          </a:xfrm>
          <a:prstGeom prst="rect">
            <a:avLst/>
          </a:prstGeom>
          <a:noFill/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5334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简洁直观的音乐库管理界面，集成AI分析与传统管理功能，通过清晰的布局和色彩分区，让用户操作更加流畅高效。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89582" flipH="false" flipV="false">
            <a:off x="4127500" y="39941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477000" y="1778000"/>
            <a:ext cx="76200" cy="11430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731000" y="1778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01. AI智能分析工具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31000" y="2286000"/>
            <a:ext cx="469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系统智能化的核心体现，提供“分析所有歌曲”“智能聚类”“推荐歌曲”三大功能，可自动生成风格歌单与个性化推荐，深度挖掘音乐价值。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8814" flipH="false" flipV="false">
            <a:off x="6477008" y="3486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477000" y="3810000"/>
            <a:ext cx="76200" cy="1143000"/>
          </a:xfrm>
          <a:prstGeom prst="roundRect">
            <a:avLst>
              <a:gd name="adj" fmla="val 0"/>
            </a:avLst>
          </a:prstGeom>
          <a:solidFill>
            <a:srgbClr val="635B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31000" y="3810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02. 音乐上传与全生命周期管理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31000" y="4254500"/>
            <a:ext cx="4699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支持本地音乐文件一键上传，同时提供检索、播放、编辑元数据和删除等完整管理能力，保障用户音乐资产的有序存储与便捷调用。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8814" flipH="false" flipV="false">
            <a:off x="6477008" y="5327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477000" y="5524500"/>
            <a:ext cx="76200" cy="952500"/>
          </a:xfrm>
          <a:prstGeom prst="roundRect">
            <a:avLst>
              <a:gd name="adj" fmla="val 0"/>
            </a:avLst>
          </a:prstGeom>
          <a:solidFill>
            <a:srgbClr val="635B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31000" y="5524500"/>
            <a:ext cx="2222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03. 多维精准检索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支持歌名、歌手搜索，及风格、情绪等标签组合筛选，快速定位目标音乐。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080500" y="5524500"/>
            <a:ext cx="12700" cy="9525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271000" y="5524500"/>
            <a:ext cx="228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高效交互体验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筛选条件实时响应，检索结果即时呈现，大幅降低用户查找成本。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三、系统界面功能展示 - 个人中心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5809" r="5809" t="0" b="0"/>
          <a:stretch>
            <a:fillRect/>
          </a:stretch>
        </p:blipFill>
        <p:spPr>
          <a:xfrm rot="0" flipH="false" flipV="false">
            <a:off x="762000" y="1905000"/>
            <a:ext cx="5334000" cy="3302000"/>
          </a:xfrm>
          <a:prstGeom prst="rect">
            <a:avLst/>
          </a:prstGeom>
          <a:noFill/>
          <a:ln w="12700" cmpd="sng" cap="flat">
            <a:solidFill>
              <a:srgbClr val="000000">
                <a:alpha val="8000"/>
              </a:srgbClr>
            </a:solidFill>
            <a:prstDash val="solid"/>
            <a:round/>
          </a:ln>
          <a:effectLst>
            <a:outerShdw dir="2700000" dist="101600" blurRad="203200" algn="tl" rotWithShape="false">
              <a:srgbClr val="635BFF">
                <a:alpha val="15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54610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个人中心集成了信息管理与数据分析双重能力，以简洁直观的界面呈现用户核心数据，帮助用户快速掌握自身音乐行为特征，是连接用户与系统的重要枢纽。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89889" flipH="false" flipV="false">
            <a:off x="41910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604000" y="1905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604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6858000" y="2032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429500" y="2006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个人信息全景管理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10110" flipH="false" flipV="false">
            <a:off x="6858009" y="2597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6858000" y="2667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支持头像、昵称、邮箱等基础信息的展示与编辑，打造专属的个性化账号主页，信息修改实时同步云端，保障数据一致性。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33655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3365500"/>
            <a:ext cx="762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858000" y="3492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429500" y="34671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核心数据自动汇总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0110" flipH="false" flipV="false">
            <a:off x="6858009" y="4057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858000" y="41275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自动归集收藏歌曲总数、自建歌单数量、累计听歌时长等关键数据，形成用户音乐资产的数字化档案，让音乐积累清晰可见。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4826000"/>
            <a:ext cx="48260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4826000"/>
            <a:ext cx="762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858000" y="4953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429500" y="4927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听歌偏好量化可视化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0110" flipH="false" flipV="false">
            <a:off x="6858009" y="5518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6858000" y="5588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通过条形图直观呈现“风格偏好”与“情绪偏好”分布，让用户清晰认知听歌习惯，同时为AI的精准内容推荐提供核心数据支撑。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三、系统界面功能展示 - 登录页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5619" r="5619" t="0" b="0"/>
          <a:stretch>
            <a:fillRect/>
          </a:stretch>
        </p:blipFill>
        <p:spPr>
          <a:xfrm rot="0" flipH="false" flipV="false">
            <a:off x="762000" y="1905000"/>
            <a:ext cx="5334000" cy="3302000"/>
          </a:xfrm>
          <a:prstGeom prst="rect">
            <a:avLst/>
          </a:prstGeom>
          <a:noFill/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</a:ln>
          <a:effectLst>
            <a:outerShdw dir="2700000" dist="63500" blurRad="1905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5588000"/>
            <a:ext cx="533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系统登录页采用极简居中布局，以柔和的紫色渐变与白色卡片搭配，营造现代、专业的视觉体验，引导用户聚焦核心操作，降低认知负荷。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5390177" flipH="false" flipV="false">
            <a:off x="4381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6985000" y="1905000"/>
            <a:ext cx="50800" cy="1206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239000" y="1968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7874000" y="19304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标准登录表单入口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239000" y="2540000"/>
            <a:ext cx="431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提供规范的用户名与密码输入框，搭配即时的格式校验提示，为用户提供清晰、无障碍的系统访问入口，保障基础交互的流畅性。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822" flipH="false" flipV="false">
            <a:off x="6985009" y="3803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239000" y="4000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874000" y="39624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便捷的新用户注册通道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239000" y="45085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在登录界面醒目位置设置“立即注册”引导，简化新用户的账号创建流程，降低用户流失率，完善用户生命周期的起点体验。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361804" flipH="false" flipV="false">
            <a:off x="8890000" y="51371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9588500" y="4508500"/>
            <a:ext cx="20955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安全权限自动拦截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系统内置鉴权机制，未登录用户访问受限页面时将被自动重定向至登录页，构建系统安全的第一道防线，保护核心数据隐私。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四、技术架构与实现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38100"/>
          </a:xfrm>
          <a:prstGeom prst="roundRect">
            <a:avLst>
              <a:gd name="adj" fmla="val 0"/>
            </a:avLst>
          </a:prstGeom>
          <a:solidFill>
            <a:srgbClr val="635B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55600" cy="355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98600" y="2133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4.1 前后端技术栈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946" flipH="false" flipV="false">
            <a:off x="101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1016000" y="3048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前端交互层：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 React 18.2.0 + Vite 构建，结合 Tailwind CSS 实现响应式设计，通过 Fetch API 完成接口通信。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064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后端服务层：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Node.js + Express.js 框架搭建 RESTful API，利用 JWT 实现用户认证，Multer 处理文件上传。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207000"/>
            <a:ext cx="2921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数据存储层：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选用 MongoDB 文档型数据库，搭配 Mongoose 进行数据建模与管理，适配非结构化数据存储需求。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88910" flipH="false" flipV="false">
            <a:off x="2540000" y="3994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1905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53000" y="21590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435600" y="2133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4.2 经典三层架构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946" flipH="false" flipV="false">
            <a:off x="4953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953000" y="3048000"/>
            <a:ext cx="2921000" cy="825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0" y="3111500"/>
            <a:ext cx="266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 (Presentation)：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负责可视化界面渲染与用户交互，处理输入输出，屏蔽底层实现细节。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953000" y="4064000"/>
            <a:ext cx="2921000" cy="825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80000" y="4127500"/>
            <a:ext cx="266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业务逻辑层 (Business)：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系统核心层，封装用户、歌单、推荐等业务规则，协调数据层与表现层交互。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953000" y="5143500"/>
            <a:ext cx="2921000" cy="825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80000" y="5207000"/>
            <a:ext cx="266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数据持久层 (Persistence)：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负责数据的CRUD操作，存储用户信息、音乐元数据及行为日志，保证数据一致性。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5388910" flipH="false" flipV="false">
            <a:off x="6477000" y="3994160"/>
            <a:ext cx="393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382000" y="1905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82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636000" y="2159000"/>
            <a:ext cx="355600" cy="3556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118600" y="2133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4.3 核心数据模型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-14946" flipH="false" flipV="false">
            <a:off x="8636014" y="2787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8636000" y="3048000"/>
            <a:ext cx="2921000" cy="825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763000" y="3111500"/>
            <a:ext cx="266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用户核心表 (Users)：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存储用户基础信息，包括用户名、加密邮箱、密码哈希值、注册时间及权限角色。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636000" y="4064000"/>
            <a:ext cx="2921000" cy="825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763000" y="4127500"/>
            <a:ext cx="266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歌单关联表 (Playlists)：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关联用户与音乐，存储歌单名称、简介、封面、创建者ID及包含的音乐列表引用。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636000" y="5143500"/>
            <a:ext cx="2921000" cy="825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763000" y="5207000"/>
            <a:ext cx="266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音乐资源表 (Tracks)：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存储核心音频元数据，含歌名、歌手、专辑、文件路径、时长及情绪/风格标签。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62000" y="6096000"/>
            <a:ext cx="11049000" cy="5080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89000" y="6172200"/>
            <a:ext cx="10795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架构优势总结：前后端分离降低耦合度，三层架构保障逻辑清晰，文档型数据库适配音乐数据的灵活性与扩展性。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五、系统测试与结果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核心模块测试范围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2413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2387600"/>
            <a:ext cx="107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用户认证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登录注册、身份鉴权全流程覆盖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603500" y="22860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730500" y="2413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111500" y="2387600"/>
            <a:ext cx="107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歌单管理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增删改查、分享与收藏功能验证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22860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72000" y="2413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953000" y="2387600"/>
            <a:ext cx="107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音乐管理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上传、解析、播放等核心链路测试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86500" y="22860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13500" y="2413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94500" y="2387600"/>
            <a:ext cx="107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AI推荐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个性化算法逻辑与推荐准确率验证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2860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128000" y="2413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509000" y="2387600"/>
            <a:ext cx="107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界面渲染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多终端适配与复杂场景加载测试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779000" y="2286000"/>
            <a:ext cx="1651000" cy="10160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906000" y="2413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0287000" y="2387600"/>
            <a:ext cx="107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权限安全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数据隔离与越权访问防御机制</a:t>
            </a:r>
          </a:p>
        </p:txBody>
      </p:sp>
      <p:cxnSp>
        <p:nvCxnSpPr>
          <p:cNvPr name="Connector 23" id="23"/>
          <p:cNvCxnSpPr/>
          <p:nvPr/>
        </p:nvCxnSpPr>
        <p:spPr>
          <a:xfrm rot="-4092" flipH="false" flipV="false">
            <a:off x="762004" y="380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762000" y="4064000"/>
            <a:ext cx="2540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064000"/>
            <a:ext cx="50800" cy="1460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52500" y="4191000"/>
            <a:ext cx="222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功能完整性达标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24条核心功能测试用例全部执行通过，功能覆盖率达到100%，无重大功能缺失或逻辑错误。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467100" y="4064000"/>
            <a:ext cx="2540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467100" y="4064000"/>
            <a:ext cx="50800" cy="1460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657600" y="4191000"/>
            <a:ext cx="222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性能表现优异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页面平均响应时间1.2秒，在200人高并发访问场景下，系统运行稳定，无卡顿与超时现象。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172200" y="4064000"/>
            <a:ext cx="2540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172200" y="4064000"/>
            <a:ext cx="50800" cy="1460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62700" y="4191000"/>
            <a:ext cx="222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安全防护有效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登录拦截、密码加密存储及越权访问防护机制全部生效，关键数据与用户隐私得到可靠保障。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877300" y="4064000"/>
            <a:ext cx="2540000" cy="1460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877300" y="4064000"/>
            <a:ext cx="50800" cy="14605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067800" y="4191000"/>
            <a:ext cx="222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遗留缺陷清零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开发阶段发现的页面加载慢、音频解析异常等问题均已完成优化修复，系统整体健壮性显著提升。</a:t>
            </a:r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635BFF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952500" y="5943600"/>
            <a:ext cx="406400" cy="406400"/>
          </a:xfrm>
          <a:prstGeom prst="rect">
            <a:avLst/>
          </a:prstGeom>
        </p:spPr>
      </p:pic>
      <p:sp>
        <p:nvSpPr>
          <p:cNvPr name="AutoShape 38" id="38"/>
          <p:cNvSpPr/>
          <p:nvPr/>
        </p:nvSpPr>
        <p:spPr>
          <a:xfrm rot="0" flipH="false" flipV="false">
            <a:off x="1524000" y="5842000"/>
            <a:ext cx="965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测试结论：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系统功能完整，运行稳定，性能指标与安全标准均满足设计预期，测试环节全部通过，具备正式上线交付使用的条件。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六、总结与未来展望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635B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635B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76200" cy="3302000"/>
          </a:xfrm>
          <a:prstGeom prst="roundRect">
            <a:avLst>
              <a:gd name="adj" fmla="val 0"/>
            </a:avLst>
          </a:prstGeom>
          <a:solidFill>
            <a:srgbClr val="635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0955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项目核心总结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291" flipH="false" flipV="false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35B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4699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成功搭建集账号认证、歌单管理、音乐上传、AI智能分析与个性化推荐于一体的音乐管理系统，采用轻量化前后端分离架构，兼顾简洁易用性与系统稳定性。核心AI推荐功能精准匹配用户偏好，有效解决了音乐整理与发现的核心痛点。系统已完成功能、性能及安全全维度测试，各项指标均达成预期设计目标，实现了从0到1的完整闭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1905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540500" y="2095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048500" y="20701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丰富社交互动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40500" y="26670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新增歌单分享、歌曲评论、用户互动等功能，构建活跃的音乐交流社区氛围。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080500" y="19050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271000" y="2095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779000" y="20701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升级推荐算法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271000" y="26670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引入协同过滤与深度学习模型，结合用户行为数据，进一步提升推荐内容的精准度与契合度。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37465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540500" y="39370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048500" y="39116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实现多端覆盖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40500" y="4508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开发移动端适配版本，打通Web端与移动端数据，让用户可随时随地管理和聆听音乐。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080500" y="3746500"/>
            <a:ext cx="2603500" cy="1587500"/>
          </a:xfrm>
          <a:prstGeom prst="roundRect">
            <a:avLst>
              <a:gd name="adj" fmla="val 0"/>
            </a:avLst>
          </a:prstGeom>
          <a:solidFill>
            <a:srgbClr val="635B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71000" y="3937000"/>
            <a:ext cx="355600" cy="355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779000" y="39116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拓展生态联动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271000" y="4508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支持歌单批量导入导出，并对接主流第三方音乐平台，实现音乐资源的互通与共享。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635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943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635BFF"/>
                </a:solidFill>
                <a:latin typeface="Noto Sans SC"/>
                <a:ea typeface="Noto Sans SC"/>
                <a:cs typeface="Noto Sans SC"/>
                <a:sym typeface="Noto Sans SC"/>
              </a:rPr>
              <a:t>“ 感谢各位评委老师的悉心指导，以及所有帮助过我的同学与伙伴！ ”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{"Label":"1","ContentProducer":"001191110102MACQD9K64010000","ProduceID":"7655509851631668204","ReservedCode1":"","ContentPropagator":"","PropagateID":"","ReservedCode2":""}</vt:lpwstr>
  </property>
</Properties>
</file>